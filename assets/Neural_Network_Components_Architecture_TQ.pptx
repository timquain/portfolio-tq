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Space Grotesk" panose="020B0604020202020204" charset="0"/>
      <p:regular r:id="rId16"/>
      <p:bold r:id="rId17"/>
    </p:embeddedFont>
    <p:embeddedFont>
      <p:font typeface="Urbanis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75510" y="1428750"/>
            <a:ext cx="7840980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NEURAL NETWORK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750" b="1" i="0" u="none" strike="noStrik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790950"/>
            <a:ext cx="79918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Deep Dive into the Components and Data Flows of Modern Artificial Intelligence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381625" y="5391150"/>
            <a:ext cx="142875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1A1684-0C40-1742-5516-006EF354CF5A}"/>
              </a:ext>
            </a:extLst>
          </p:cNvPr>
          <p:cNvSpPr txBox="1"/>
          <p:nvPr/>
        </p:nvSpPr>
        <p:spPr>
          <a:xfrm>
            <a:off x="2359152" y="6007608"/>
            <a:ext cx="2898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By: Timothy Quainoo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7325"/>
            <a:ext cx="52387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7325"/>
            <a:ext cx="52387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91025"/>
            <a:ext cx="1104900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184785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INPUT LAYER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2381250"/>
            <a:ext cx="4457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entry point for raw data. Each neuron represents a feature from the dataset (e.g., pixel value, age, price). No computation happens here; it simply passes data forward.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184785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HIDDEN LAYERS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2381250"/>
            <a:ext cx="4457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"Engine Room" where learning occurs. These layers apply mathematical transformations to extract complex features and patterns from the input data.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4781550"/>
            <a:ext cx="1078134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OUTPUT LAYER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5314950"/>
            <a:ext cx="102679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final destination. It produces the network's prediction—be it a class probability for image recognition or a numerical value for price forecasting.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THREE PILLARS: LAYERS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875" y="196691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381750" y="250031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ARTIFICIAL NEURON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81750" y="29098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Inspired by biological biology, the artificial neuron is a mathematical function that:</a:t>
            </a:r>
            <a:endParaRPr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23975" y="2005012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6762750" y="367188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Aggregates: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Sums multiple weighted inputs.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6762750" y="41957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Computes: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Applies a non-linear activation.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6762750" y="471963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Fires: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Passes the result to the next layer.</a:t>
            </a:r>
            <a:endParaRPr dirty="0"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709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23386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7577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NEURONS: PROCESSING UNITS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3090"/>
            <a:ext cx="5238750" cy="3537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31840"/>
            <a:ext cx="1476672" cy="71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2293590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Weights (w)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are the most critical tunable parameters. They determine the strength and "importance" of a connection between two neurons.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4439096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Biases (b)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allow the activation function to shift, providing the flexibility needed to fit data that doesn't pass through the origin.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112615"/>
            <a:ext cx="5219700" cy="351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731865"/>
            <a:ext cx="1076622" cy="31670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WEIGHTS &amp; BIASES: TUNING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762000"/>
            <a:ext cx="5000625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NETWORK ARCHITECTURE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762000"/>
            <a:ext cx="57150" cy="10096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21526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VISUALIZING DATA FLOW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2562225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flows in a strictly "feedforward" manner during inference. Information is processed layer-by-layer, where each successive layer captures more abstract representations.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40862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Input (Edges/Colors) → Hidden 1 (Textures) → Hidden 2 (Shapes) → Output (Objects).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33900"/>
            <a:ext cx="1104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57325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1457325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1457325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543425"/>
            <a:ext cx="11029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794225" y="2495550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SIGMOID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66775" y="29051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Squashes values between 0 and 1. Useful for probability-based output layers.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572524" y="2495550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RELU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645074" y="29051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standard for hidden layers. Simple, fast, and avoids vanishing gradients.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350824" y="2495550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SOFTMAX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423374" y="2905125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Turns multiple outputs into a probability distribution totaling 1.0.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31950" y="17907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95975" y="17907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45699" y="17907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ACTIVATION: NON-LINEARITY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1500" y="4491037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Loss Function quantifies how far the model's prediction is from the ground truth. Minimizing this value is the primary goal of training.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LOSS FUNCTIONS: OBJECTIVE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6381750" y="23050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GRADIENT DESCENT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381750" y="2714625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"Engine" of learning. It calculates the gradient of the loss function with respect to the weights and nudges them in the direction that reduces error.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762750" y="395287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Stochastic GD: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Fast, but noisy updates.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762750" y="4476750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Adam: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Adaptive moment estimation—the industry standard.</a:t>
            </a:r>
            <a:endParaRPr/>
          </a:p>
        </p:txBody>
      </p:sp>
      <p:pic>
        <p:nvPicPr>
          <p:cNvPr id="185" name="Google Shape;1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990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5148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OPTIMIZATION: LEARNING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2095500" y="2328862"/>
            <a:ext cx="876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Demystifying the Black Box: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Visualization transforms abstract matrix multiplications into interpretable hierarchical features.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2095500" y="3138487"/>
            <a:ext cx="876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Debugging Architectures: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Spotting vanishing gradients or saturated neurons becomes trivial when viewing activation maps.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2095500" y="3948112"/>
            <a:ext cx="876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Bridging Theory &amp; Practice: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It allows researchers to communicate complex topological concepts to non-technical stakeholders.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2095500" y="4757737"/>
            <a:ext cx="876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Guiding Optimization: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Visualizing the loss landscape helps in choosing the right learning rates and optimization paths.</a:t>
            </a:r>
            <a:endParaRPr/>
          </a:p>
        </p:txBody>
      </p:sp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4500" y="23669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4500" y="31765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14500" y="39862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14500" y="47958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VISUALIZING INSIGHT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5475"/>
            <a:ext cx="3492549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95475"/>
            <a:ext cx="3492549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95475"/>
            <a:ext cx="3492549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190750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190750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190750"/>
            <a:ext cx="29019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794225" y="4095750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HIERARCHY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866775" y="45053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Deep learning is about composing simple operations into complex abstractions.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4572524" y="4095750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INTERCONNECTIVITY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645074" y="45053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power resides in the connections (synapses), not just individual units.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350824" y="4095750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OPTIMIZATION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8423374" y="45053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Training is a mathematical journey through a high-dimensional landscape.</a:t>
            </a:r>
            <a:endParaRPr/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6300" y="2200275"/>
            <a:ext cx="288294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54599" y="2200275"/>
            <a:ext cx="288294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32899" y="2200275"/>
            <a:ext cx="2882949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EXERCISE SUMMARY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1595437" y="2000250"/>
            <a:ext cx="9001125" cy="27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ARTIFICIAL INTELLIGENCE IS NOT JUST CODE; IT IS A STRUCTURAL REPRESENTATION OF KNOWLEDGE.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2195512" y="5086350"/>
            <a:ext cx="78009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Visualizing this structure is the first step toward true understanding.</a:t>
            </a:r>
            <a:endParaRPr/>
          </a:p>
        </p:txBody>
      </p:sp>
      <p:pic>
        <p:nvPicPr>
          <p:cNvPr id="233" name="Google Shape;23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1175" y="1190625"/>
            <a:ext cx="100965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295275" y="571500"/>
            <a:ext cx="11601450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Q&amp;A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71500" y="204787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Any questions regarding Neural Network Components?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30194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neural-vis-project.io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34956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contact@deeplearning.edu</a:t>
            </a:r>
            <a:endParaRPr/>
          </a:p>
        </p:txBody>
      </p:sp>
      <p:pic>
        <p:nvPicPr>
          <p:cNvPr id="243" name="Google Shape;24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0" y="30670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33937" y="35433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/>
          <p:nvPr/>
        </p:nvSpPr>
        <p:spPr>
          <a:xfrm>
            <a:off x="571500" y="19478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27193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34909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42624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2709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2709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481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481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4252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252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5024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5024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0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666875" y="20978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https://towardsdatascience.com/wp-content/uploads/2021/12/1SgJPlfKHwL-qis-aL19Fyg.png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666875" y="23312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towardsdatascience.com</a:t>
            </a:r>
            <a:endParaRPr/>
          </a:p>
        </p:txBody>
      </p:sp>
      <p:pic>
        <p:nvPicPr>
          <p:cNvPr id="265" name="Google Shape;26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62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666875" y="28694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https://png.pngtree.com/png-clipart/20250715/original/pngtree-a-human-brain-with-neural-network-layers-emphasizing-the-integration-of-png-image_21320085.png</a:t>
            </a:r>
            <a:endParaRPr dirty="0"/>
          </a:p>
        </p:txBody>
      </p:sp>
      <p:sp>
        <p:nvSpPr>
          <p:cNvPr id="267" name="Google Shape;267;p25"/>
          <p:cNvSpPr txBox="1"/>
          <p:nvPr/>
        </p:nvSpPr>
        <p:spPr>
          <a:xfrm>
            <a:off x="1666875" y="31027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id="268" name="Google Shape;26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33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66875" y="36409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https://miro.medium.com/v2/resize:fit:1400/1*bz59rluxfbLe55oQ3bIeEw.png</a:t>
            </a:r>
            <a:endParaRPr dirty="0"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38742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/>
          </a:p>
        </p:txBody>
      </p:sp>
      <p:pic>
        <p:nvPicPr>
          <p:cNvPr id="271" name="Google Shape;27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05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44124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https://media.geeksforgeeks.org/wp-content/uploads/20250707102928968494/Sigmoid-Activation-Function.png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46458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www.geeksforgeeks.org</a:t>
            </a:r>
            <a:endParaRPr dirty="0"/>
          </a:p>
        </p:txBody>
      </p:sp>
      <p:pic>
        <p:nvPicPr>
          <p:cNvPr id="274" name="Google Shape;274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76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66875" y="51839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https://miro.medium.com/v2/resize:fit:1400/1*h93R4BUIdUO4Mtq_tsYPPg.jpeg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54173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 dirty="0"/>
          </a:p>
        </p:txBody>
      </p:sp>
      <p:sp>
        <p:nvSpPr>
          <p:cNvPr id="277" name="Google Shape;277;p2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Widescreen</PresentationFormat>
  <Paragraphs>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Urbanist</vt:lpstr>
      <vt:lpstr>Space Grotesk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Timothy Quainoo</cp:lastModifiedBy>
  <cp:revision>1</cp:revision>
  <dcterms:modified xsi:type="dcterms:W3CDTF">2026-05-25T03:35:40Z</dcterms:modified>
</cp:coreProperties>
</file>